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548640"/>
            <a:ext cx="3291840" cy="329184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931920"/>
            <a:ext cx="1828800" cy="1828800"/>
          </a:xfrm>
          <a:prstGeom prst="ellipse">
            <a:avLst/>
          </a:prstGeom>
          <a:solidFill>
            <a:srgbClr val="E8834B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464040" y="2331720"/>
            <a:ext cx="2011680" cy="20116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6843" y="2814523"/>
            <a:ext cx="1046074" cy="10460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42316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 Tutorial</a:t>
            </a:r>
            <a:endParaRPr lang="en-US" sz="5000" dirty="0"/>
          </a:p>
        </p:txBody>
      </p:sp>
      <p:sp>
        <p:nvSpPr>
          <p:cNvPr id="7" name="Text 4"/>
          <p:cNvSpPr/>
          <p:nvPr/>
        </p:nvSpPr>
        <p:spPr>
          <a:xfrm>
            <a:off x="658368" y="33832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Playbook 실습 프로젝트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58368" y="39319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· shadcn/ui 로 만드는 작은 Todo 앱, 한 챕터씩 발전시키며 배운다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58368" y="6263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docs.claude-hunt.com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프로젝트 개요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5623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Playbook 강의의 실습용 저장소로, Next.js와 shadcn/ui로 작은 Todo 앱을 단계별로 발전시키며 Claude Code 사용법을 익히는 프로젝트입니다.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8892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6143" y="2924983"/>
            <a:ext cx="294803" cy="294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276148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챕터별 실습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371600" y="30632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레슨마다 시작 상태 브랜치 제공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" y="365760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143" y="3793663"/>
            <a:ext cx="294803" cy="29480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363016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학습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371600" y="39319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Skill·CLAUDE.md로 실전 워크플로 체득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40080" y="452628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143" y="4662343"/>
            <a:ext cx="294803" cy="29480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449884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작지만 완결된 앱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1371600" y="48006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CRUD부터 필터·정렬까지 점진적 확장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720840" y="1463040"/>
            <a:ext cx="4846320" cy="4434840"/>
          </a:xfrm>
          <a:prstGeom prst="roundRect">
            <a:avLst>
              <a:gd name="adj" fmla="val 2474"/>
            </a:avLst>
          </a:prstGeom>
          <a:solidFill>
            <a:srgbClr val="F3F6F9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27000" dist="38100" dir="5400000">
              <a:srgbClr val="1A2530">
                <a:alpha val="1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995160" y="1719072"/>
            <a:ext cx="91440" cy="91440"/>
          </a:xfrm>
          <a:prstGeom prst="ellipse">
            <a:avLst/>
          </a:prstGeom>
          <a:solidFill>
            <a:srgbClr val="FF8A65"/>
          </a:solidFill>
          <a:ln/>
        </p:spPr>
      </p:sp>
      <p:sp>
        <p:nvSpPr>
          <p:cNvPr id="19" name="Shape 14"/>
          <p:cNvSpPr/>
          <p:nvPr/>
        </p:nvSpPr>
        <p:spPr>
          <a:xfrm>
            <a:off x="7196328" y="1719072"/>
            <a:ext cx="91440" cy="91440"/>
          </a:xfrm>
          <a:prstGeom prst="ellipse">
            <a:avLst/>
          </a:prstGeom>
          <a:solidFill>
            <a:srgbClr val="FFD54F"/>
          </a:solidFill>
          <a:ln/>
        </p:spPr>
      </p:sp>
      <p:sp>
        <p:nvSpPr>
          <p:cNvPr id="20" name="Shape 15"/>
          <p:cNvSpPr/>
          <p:nvPr/>
        </p:nvSpPr>
        <p:spPr>
          <a:xfrm>
            <a:off x="7397496" y="1719072"/>
            <a:ext cx="91440" cy="91440"/>
          </a:xfrm>
          <a:prstGeom prst="ellipse">
            <a:avLst/>
          </a:prstGeom>
          <a:solidFill>
            <a:srgbClr val="81C784"/>
          </a:solidFill>
          <a:ln/>
        </p:spPr>
      </p:sp>
      <p:sp>
        <p:nvSpPr>
          <p:cNvPr id="21" name="Text 16"/>
          <p:cNvSpPr/>
          <p:nvPr/>
        </p:nvSpPr>
        <p:spPr>
          <a:xfrm>
            <a:off x="6995160" y="1965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할 일 목록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6995160" y="2514600"/>
            <a:ext cx="42976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159752" y="2715768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E8834B"/>
          </a:solidFill>
          <a:ln w="15875">
            <a:solidFill>
              <a:srgbClr val="E8834B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7184" y="2743200"/>
            <a:ext cx="182880" cy="1828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562088" y="26334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trike="sngStrike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발표 자료 준비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7562088" y="29535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마감 08.20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10195560" y="2807208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C0392B">
              <a:alpha val="15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10195560" y="280720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높음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6995160" y="3566160"/>
            <a:ext cx="42976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7159752" y="3767328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5875">
            <a:solidFill>
              <a:srgbClr val="5C6B7A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7562088" y="36850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장보기 목록 작성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7562088" y="40050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5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#쇼핑</a:t>
            </a:r>
            <a:endParaRPr lang="en-US" sz="1050" dirty="0"/>
          </a:p>
        </p:txBody>
      </p:sp>
      <p:sp>
        <p:nvSpPr>
          <p:cNvPr id="33" name="Shape 27"/>
          <p:cNvSpPr/>
          <p:nvPr/>
        </p:nvSpPr>
        <p:spPr>
          <a:xfrm>
            <a:off x="10195560" y="3858768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B7791F">
              <a:alpha val="15000"/>
            </a:srgbClr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10195560" y="385876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보통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6995160" y="4617720"/>
            <a:ext cx="42976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7159752" y="4818888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5875">
            <a:solidFill>
              <a:srgbClr val="5C6B7A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7562088" y="47365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리뷰 코멘트 반영</a:t>
            </a:r>
            <a:endParaRPr lang="en-US" sz="1300" dirty="0"/>
          </a:p>
        </p:txBody>
      </p:sp>
      <p:sp>
        <p:nvSpPr>
          <p:cNvPr id="38" name="Text 32"/>
          <p:cNvSpPr/>
          <p:nvPr/>
        </p:nvSpPr>
        <p:spPr>
          <a:xfrm>
            <a:off x="7562088" y="50566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#업무</a:t>
            </a:r>
            <a:endParaRPr lang="en-US" sz="1050" dirty="0"/>
          </a:p>
        </p:txBody>
      </p:sp>
      <p:sp>
        <p:nvSpPr>
          <p:cNvPr id="39" name="Shape 33"/>
          <p:cNvSpPr/>
          <p:nvPr/>
        </p:nvSpPr>
        <p:spPr>
          <a:xfrm>
            <a:off x="10195560" y="4910328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5C6B7A">
              <a:alpha val="15000"/>
            </a:srgbClr>
          </a:solidFill>
          <a:ln w="12700">
            <a:solidFill>
              <a:srgbClr val="5C6B7A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10195560" y="491032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낮음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기술 스택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577340" y="187452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3878" y="2061058"/>
            <a:ext cx="404165" cy="40416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7706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308152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Router · Turbopack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439412" y="187452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5950" y="2061058"/>
            <a:ext cx="404165" cy="40416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502152" y="27706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3502152" y="308152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라이브러리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7301484" y="187452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8022" y="2061058"/>
            <a:ext cx="404165" cy="40416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364224" y="27706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6364224" y="308152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정적 타입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10163556" y="187452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0094" y="2061058"/>
            <a:ext cx="404165" cy="40416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226296" y="27706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v4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9226296" y="308152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유틸리티 CSS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3012948" y="416052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99486" y="4347058"/>
            <a:ext cx="404165" cy="40416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2075688" y="50566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shadcn/ui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2075688" y="536752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컴포넌트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5875020" y="416052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1558" y="4347058"/>
            <a:ext cx="404165" cy="404165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4937760" y="50566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</a:t>
            </a:r>
            <a:endParaRPr lang="en-US" sz="1400" dirty="0"/>
          </a:p>
        </p:txBody>
      </p:sp>
      <p:sp>
        <p:nvSpPr>
          <p:cNvPr id="27" name="Text 19"/>
          <p:cNvSpPr/>
          <p:nvPr/>
        </p:nvSpPr>
        <p:spPr>
          <a:xfrm>
            <a:off x="4937760" y="536752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패키지 매니저</a:t>
            </a:r>
            <a:endParaRPr lang="en-US" sz="1100" dirty="0"/>
          </a:p>
        </p:txBody>
      </p:sp>
      <p:sp>
        <p:nvSpPr>
          <p:cNvPr id="28" name="Shape 20"/>
          <p:cNvSpPr/>
          <p:nvPr/>
        </p:nvSpPr>
        <p:spPr>
          <a:xfrm>
            <a:off x="8737092" y="416052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23630" y="4347058"/>
            <a:ext cx="404165" cy="404165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7799832" y="50566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Vitest</a:t>
            </a:r>
            <a:endParaRPr lang="en-US" sz="1400" dirty="0"/>
          </a:p>
        </p:txBody>
      </p:sp>
      <p:sp>
        <p:nvSpPr>
          <p:cNvPr id="31" name="Text 22"/>
          <p:cNvSpPr/>
          <p:nvPr/>
        </p:nvSpPr>
        <p:spPr>
          <a:xfrm>
            <a:off x="7799832" y="536752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단위 테스트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PROCESS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학습 구조: 챕터별 실습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레슨은 시작 시점의 코드 상태를 브랜치로 제공합니다. 강의 본문이 안내하는 브랜치로 전환한 뒤, 기능을 하나씩 추가하며 따라갑니다.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280160" y="3246120"/>
            <a:ext cx="9646920" cy="0"/>
          </a:xfrm>
          <a:prstGeom prst="line">
            <a:avLst/>
          </a:prstGeom>
          <a:noFill/>
          <a:ln w="25400">
            <a:solidFill>
              <a:srgbClr val="E3E8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8992" y="3044952"/>
            <a:ext cx="402336" cy="402336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3044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53872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 CRUD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5877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ch02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90722" y="3044952"/>
            <a:ext cx="402336" cy="402336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0722" y="3044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960370" y="353872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우선순위·필터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60370" y="25877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ch03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02452" y="3044952"/>
            <a:ext cx="402336" cy="402336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02452" y="3044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72100" y="353872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정렬·검색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72100" y="25877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ch04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314182" y="3044952"/>
            <a:ext cx="402336" cy="402336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14182" y="3044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83830" y="353872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카테고리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83830" y="25877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ch05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725912" y="3044952"/>
            <a:ext cx="402336" cy="402336"/>
          </a:xfrm>
          <a:prstGeom prst="ellipse">
            <a:avLst/>
          </a:prstGeom>
          <a:solidFill>
            <a:srgbClr val="E8834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25912" y="3044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195560" y="353872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연동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195560" y="25877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ch06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651760" y="4983480"/>
            <a:ext cx="6858000" cy="868680"/>
          </a:xfrm>
          <a:prstGeom prst="roundRect">
            <a:avLst>
              <a:gd name="adj" fmla="val 10526"/>
            </a:avLst>
          </a:prstGeom>
          <a:solidFill>
            <a:srgbClr val="0B2942"/>
          </a:solidFill>
          <a:ln/>
        </p:spPr>
      </p:sp>
      <p:sp>
        <p:nvSpPr>
          <p:cNvPr id="27" name="Shape 25"/>
          <p:cNvSpPr/>
          <p:nvPr/>
        </p:nvSpPr>
        <p:spPr>
          <a:xfrm>
            <a:off x="2852928" y="51892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55798" y="5292090"/>
            <a:ext cx="251460" cy="25146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3520440" y="4983480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ch02-03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FEATURES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핵심 기능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651760" cy="1920240"/>
          </a:xfrm>
          <a:prstGeom prst="roundRect">
            <a:avLst>
              <a:gd name="adj" fmla="val 4762"/>
            </a:avLst>
          </a:prstGeom>
          <a:solidFill>
            <a:srgbClr val="F3F6F9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2024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743" y="2056303"/>
            <a:ext cx="294803" cy="294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606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· 영속화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68680" y="29260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localStorage에 자동 저장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502152" y="1691640"/>
            <a:ext cx="2651760" cy="1920240"/>
          </a:xfrm>
          <a:prstGeom prst="roundRect">
            <a:avLst>
              <a:gd name="adj" fmla="val 4762"/>
            </a:avLst>
          </a:prstGeom>
          <a:solidFill>
            <a:srgbClr val="F3F6F9"/>
          </a:solidFill>
          <a:ln/>
        </p:spPr>
      </p:sp>
      <p:sp>
        <p:nvSpPr>
          <p:cNvPr id="10" name="Shape 7"/>
          <p:cNvSpPr/>
          <p:nvPr/>
        </p:nvSpPr>
        <p:spPr>
          <a:xfrm>
            <a:off x="3730752" y="192024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6815" y="2056303"/>
            <a:ext cx="294803" cy="2948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30752" y="2606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우선순위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730752" y="29260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높음 · 보통 · 낮음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364224" y="1691640"/>
            <a:ext cx="2651760" cy="1920240"/>
          </a:xfrm>
          <a:prstGeom prst="roundRect">
            <a:avLst>
              <a:gd name="adj" fmla="val 4762"/>
            </a:avLst>
          </a:prstGeom>
          <a:solidFill>
            <a:srgbClr val="F3F6F9"/>
          </a:solidFill>
          <a:ln/>
        </p:spPr>
      </p:sp>
      <p:sp>
        <p:nvSpPr>
          <p:cNvPr id="15" name="Shape 11"/>
          <p:cNvSpPr/>
          <p:nvPr/>
        </p:nvSpPr>
        <p:spPr>
          <a:xfrm>
            <a:off x="6592824" y="192024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8887" y="2056303"/>
            <a:ext cx="294803" cy="29480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92824" y="2606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필터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592824" y="29260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· 진행중 · 완료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9226296" y="1691640"/>
            <a:ext cx="2651760" cy="1920240"/>
          </a:xfrm>
          <a:prstGeom prst="roundRect">
            <a:avLst>
              <a:gd name="adj" fmla="val 4762"/>
            </a:avLst>
          </a:prstGeom>
          <a:solidFill>
            <a:srgbClr val="F3F6F9"/>
          </a:solidFill>
          <a:ln/>
        </p:spPr>
      </p:sp>
      <p:sp>
        <p:nvSpPr>
          <p:cNvPr id="20" name="Shape 15"/>
          <p:cNvSpPr/>
          <p:nvPr/>
        </p:nvSpPr>
        <p:spPr>
          <a:xfrm>
            <a:off x="9454896" y="192024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0959" y="2056303"/>
            <a:ext cx="294803" cy="29480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454896" y="2606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정렬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9454896" y="29260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이름 · 생성일 · 마감일순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2075688" y="3886200"/>
            <a:ext cx="2651760" cy="1920240"/>
          </a:xfrm>
          <a:prstGeom prst="roundRect">
            <a:avLst>
              <a:gd name="adj" fmla="val 4762"/>
            </a:avLst>
          </a:prstGeom>
          <a:solidFill>
            <a:srgbClr val="F3F6F9"/>
          </a:solidFill>
          <a:ln/>
        </p:spPr>
      </p:sp>
      <p:sp>
        <p:nvSpPr>
          <p:cNvPr id="25" name="Shape 19"/>
          <p:cNvSpPr/>
          <p:nvPr/>
        </p:nvSpPr>
        <p:spPr>
          <a:xfrm>
            <a:off x="2304288" y="411480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40351" y="4250863"/>
            <a:ext cx="294803" cy="29480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2304288" y="48006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2304288" y="51206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제목으로 실시간 검색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4937760" y="3886200"/>
            <a:ext cx="2651760" cy="1920240"/>
          </a:xfrm>
          <a:prstGeom prst="roundRect">
            <a:avLst>
              <a:gd name="adj" fmla="val 4762"/>
            </a:avLst>
          </a:prstGeom>
          <a:solidFill>
            <a:srgbClr val="F3F6F9"/>
          </a:solidFill>
          <a:ln/>
        </p:spPr>
      </p:sp>
      <p:sp>
        <p:nvSpPr>
          <p:cNvPr id="30" name="Shape 23"/>
          <p:cNvSpPr/>
          <p:nvPr/>
        </p:nvSpPr>
        <p:spPr>
          <a:xfrm>
            <a:off x="5166360" y="411480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2423" y="4250863"/>
            <a:ext cx="294803" cy="29480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166360" y="48006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카테고리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5166360" y="51206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업무 · 개인 · 쇼핑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7799832" y="3886200"/>
            <a:ext cx="2651760" cy="1920240"/>
          </a:xfrm>
          <a:prstGeom prst="roundRect">
            <a:avLst>
              <a:gd name="adj" fmla="val 4762"/>
            </a:avLst>
          </a:prstGeom>
          <a:solidFill>
            <a:srgbClr val="F3F6F9"/>
          </a:solidFill>
          <a:ln/>
        </p:spPr>
      </p:sp>
      <p:sp>
        <p:nvSpPr>
          <p:cNvPr id="35" name="Shape 27"/>
          <p:cNvSpPr/>
          <p:nvPr/>
        </p:nvSpPr>
        <p:spPr>
          <a:xfrm>
            <a:off x="8028432" y="411480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64495" y="4250863"/>
            <a:ext cx="294803" cy="294803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8028432" y="48006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인라인 편집</a:t>
            </a:r>
            <a:endParaRPr lang="en-US" sz="1350" dirty="0"/>
          </a:p>
        </p:txBody>
      </p:sp>
      <p:sp>
        <p:nvSpPr>
          <p:cNvPr id="38" name="Text 29"/>
          <p:cNvSpPr/>
          <p:nvPr/>
        </p:nvSpPr>
        <p:spPr>
          <a:xfrm>
            <a:off x="8028432" y="51206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길게 눌러 세부 수정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CLAUDE CODE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Code 통합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프로젝트는 Claude Code로 실습하도록 설계되어, 규칙 파일과 커스텀 Skill을 함께 갖추고 있습니다.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5212080" cy="3977640"/>
          </a:xfrm>
          <a:prstGeom prst="roundRect">
            <a:avLst>
              <a:gd name="adj" fmla="val 2759"/>
            </a:avLst>
          </a:prstGeom>
          <a:solidFill>
            <a:srgbClr val="13395C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" y="2606040"/>
            <a:ext cx="566928" cy="566928"/>
          </a:xfrm>
          <a:prstGeom prst="ellipse">
            <a:avLst/>
          </a:prstGeom>
          <a:solidFill>
            <a:srgbClr val="E8834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6183" y="2742103"/>
            <a:ext cx="294803" cy="29480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267004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CLAUDE.md 규칙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960120" y="3429000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299" y="3491179"/>
            <a:ext cx="186538" cy="18653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337413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Components 우선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1417320" y="367588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클라이언트 상태는 최소화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960120" y="4057650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299" y="4119829"/>
            <a:ext cx="186538" cy="18653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17320" y="400278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패키지 매니저: bun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1417320" y="430453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설치·스크립트 실행 통일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960120" y="4686300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299" y="4748479"/>
            <a:ext cx="186538" cy="18653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17320" y="463143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Commits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417320" y="493318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 / fix / refactor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960120" y="5314950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2299" y="5377129"/>
            <a:ext cx="186538" cy="18653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417320" y="526008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한국어로 답변</a:t>
            </a:r>
            <a:endParaRPr lang="en-US" sz="1350" dirty="0"/>
          </a:p>
        </p:txBody>
      </p:sp>
      <p:sp>
        <p:nvSpPr>
          <p:cNvPr id="24" name="Text 17"/>
          <p:cNvSpPr/>
          <p:nvPr/>
        </p:nvSpPr>
        <p:spPr>
          <a:xfrm>
            <a:off x="1417320" y="556183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응답은 한국어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6355080" y="2286000"/>
            <a:ext cx="5212080" cy="3977640"/>
          </a:xfrm>
          <a:prstGeom prst="roundRect">
            <a:avLst>
              <a:gd name="adj" fmla="val 2759"/>
            </a:avLst>
          </a:prstGeom>
          <a:solidFill>
            <a:srgbClr val="13395C"/>
          </a:solidFill>
          <a:ln/>
        </p:spPr>
      </p:sp>
      <p:sp>
        <p:nvSpPr>
          <p:cNvPr id="26" name="Shape 19"/>
          <p:cNvSpPr/>
          <p:nvPr/>
        </p:nvSpPr>
        <p:spPr>
          <a:xfrm>
            <a:off x="6675120" y="2606040"/>
            <a:ext cx="566928" cy="566928"/>
          </a:xfrm>
          <a:prstGeom prst="ellipse">
            <a:avLst/>
          </a:prstGeom>
          <a:solidFill>
            <a:srgbClr val="E8834B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1183" y="2742103"/>
            <a:ext cx="294803" cy="294803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7360920" y="267004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 Skills</a:t>
            </a:r>
            <a:endParaRPr lang="en-US" sz="1800" dirty="0"/>
          </a:p>
        </p:txBody>
      </p:sp>
      <p:sp>
        <p:nvSpPr>
          <p:cNvPr id="29" name="Shape 21"/>
          <p:cNvSpPr/>
          <p:nvPr/>
        </p:nvSpPr>
        <p:spPr>
          <a:xfrm>
            <a:off x="6675120" y="3429000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7299" y="3491179"/>
            <a:ext cx="186538" cy="186538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7132320" y="337413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350" dirty="0"/>
          </a:p>
        </p:txBody>
      </p:sp>
      <p:sp>
        <p:nvSpPr>
          <p:cNvPr id="32" name="Text 23"/>
          <p:cNvSpPr/>
          <p:nvPr/>
        </p:nvSpPr>
        <p:spPr>
          <a:xfrm>
            <a:off x="7132320" y="367588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 확인 → 스테이징 → 커밋 → 검증 자동화</a:t>
            </a:r>
            <a:endParaRPr lang="en-US" sz="1100" dirty="0"/>
          </a:p>
        </p:txBody>
      </p:sp>
      <p:sp>
        <p:nvSpPr>
          <p:cNvPr id="33" name="Shape 24"/>
          <p:cNvSpPr/>
          <p:nvPr/>
        </p:nvSpPr>
        <p:spPr>
          <a:xfrm>
            <a:off x="6675120" y="4267200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7299" y="4329379"/>
            <a:ext cx="186538" cy="186538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7132320" y="421233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ui-bug-report</a:t>
            </a:r>
            <a:endParaRPr lang="en-US" sz="1350" dirty="0"/>
          </a:p>
        </p:txBody>
      </p:sp>
      <p:sp>
        <p:nvSpPr>
          <p:cNvPr id="36" name="Text 26"/>
          <p:cNvSpPr/>
          <p:nvPr/>
        </p:nvSpPr>
        <p:spPr>
          <a:xfrm>
            <a:off x="7132320" y="451408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버그 리포트 작성 지원</a:t>
            </a:r>
            <a:endParaRPr lang="en-US" sz="1100" dirty="0"/>
          </a:p>
        </p:txBody>
      </p:sp>
      <p:sp>
        <p:nvSpPr>
          <p:cNvPr id="37" name="Shape 27"/>
          <p:cNvSpPr/>
          <p:nvPr/>
        </p:nvSpPr>
        <p:spPr>
          <a:xfrm>
            <a:off x="6675120" y="5105400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37299" y="5167579"/>
            <a:ext cx="186538" cy="186538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7132320" y="505053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hook</a:t>
            </a:r>
            <a:endParaRPr lang="en-US" sz="1350" dirty="0"/>
          </a:p>
        </p:txBody>
      </p:sp>
      <p:sp>
        <p:nvSpPr>
          <p:cNvPr id="40" name="Text 29"/>
          <p:cNvSpPr/>
          <p:nvPr/>
        </p:nvSpPr>
        <p:spPr>
          <a:xfrm>
            <a:off x="7132320" y="535228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관련 문서·링크 자동 연결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아키텍처 원칙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367528" y="169164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65038" y="1889150"/>
            <a:ext cx="427939" cy="4279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27048" y="26974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i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 Components 우선, 클라이언트 상태는 최소화</a:t>
            </a:r>
            <a:endParaRPr lang="en-US" sz="2500" dirty="0"/>
          </a:p>
        </p:txBody>
      </p:sp>
      <p:sp>
        <p:nvSpPr>
          <p:cNvPr id="7" name="Shape 4"/>
          <p:cNvSpPr/>
          <p:nvPr/>
        </p:nvSpPr>
        <p:spPr>
          <a:xfrm>
            <a:off x="640080" y="3886200"/>
            <a:ext cx="5120640" cy="1965960"/>
          </a:xfrm>
          <a:prstGeom prst="roundRect">
            <a:avLst>
              <a:gd name="adj" fmla="val 4651"/>
            </a:avLst>
          </a:prstGeom>
          <a:solidFill>
            <a:srgbClr val="F3F6F9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60120" y="42062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794" y="4337914"/>
            <a:ext cx="285293" cy="28529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45920" y="427024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Component (기본)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960120" y="493776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로딩·정적 렌더링은 서버에서 처리해 번들 크기와 클라이언트 상태를 줄인다.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46520" y="3886200"/>
            <a:ext cx="51206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766560" y="4206240"/>
            <a:ext cx="548640" cy="548640"/>
          </a:xfrm>
          <a:prstGeom prst="ellipse">
            <a:avLst/>
          </a:prstGeom>
          <a:solidFill>
            <a:srgbClr val="5C6B7A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8234" y="4337914"/>
            <a:ext cx="285293" cy="28529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452360" y="427024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Component (예외)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6766560" y="493776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입력, 토글처럼 상호작용이 꼭 필요한 부분에만 'use client'를 붙인다.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GET STARTED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시작하기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25880" y="181051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의존성 설치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25880" y="212140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bun install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8803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25880" y="28620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 서버 실행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25880" y="317296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bun dev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9319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25880" y="391363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브라우저 접속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25880" y="422452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localhost:3000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09360" y="1691640"/>
            <a:ext cx="5212080" cy="3291840"/>
          </a:xfrm>
          <a:prstGeom prst="roundRect">
            <a:avLst>
              <a:gd name="adj" fmla="val 3333"/>
            </a:avLst>
          </a:prstGeom>
          <a:solidFill>
            <a:srgbClr val="0B2942"/>
          </a:solidFill>
          <a:ln/>
        </p:spPr>
      </p:sp>
      <p:sp>
        <p:nvSpPr>
          <p:cNvPr id="17" name="Shape 15"/>
          <p:cNvSpPr/>
          <p:nvPr/>
        </p:nvSpPr>
        <p:spPr>
          <a:xfrm>
            <a:off x="6583680" y="1947672"/>
            <a:ext cx="91440" cy="91440"/>
          </a:xfrm>
          <a:prstGeom prst="ellipse">
            <a:avLst/>
          </a:prstGeom>
          <a:solidFill>
            <a:srgbClr val="FF8A65"/>
          </a:solidFill>
          <a:ln/>
        </p:spPr>
      </p:sp>
      <p:sp>
        <p:nvSpPr>
          <p:cNvPr id="18" name="Shape 16"/>
          <p:cNvSpPr/>
          <p:nvPr/>
        </p:nvSpPr>
        <p:spPr>
          <a:xfrm>
            <a:off x="6784848" y="1947672"/>
            <a:ext cx="91440" cy="91440"/>
          </a:xfrm>
          <a:prstGeom prst="ellipse">
            <a:avLst/>
          </a:prstGeom>
          <a:solidFill>
            <a:srgbClr val="FFD54F"/>
          </a:solidFill>
          <a:ln/>
        </p:spPr>
      </p:sp>
      <p:sp>
        <p:nvSpPr>
          <p:cNvPr id="19" name="Shape 17"/>
          <p:cNvSpPr/>
          <p:nvPr/>
        </p:nvSpPr>
        <p:spPr>
          <a:xfrm>
            <a:off x="6986016" y="1947672"/>
            <a:ext cx="91440" cy="91440"/>
          </a:xfrm>
          <a:prstGeom prst="ellipse">
            <a:avLst/>
          </a:prstGeom>
          <a:solidFill>
            <a:srgbClr val="81C784"/>
          </a:solidFill>
          <a:ln/>
        </p:spPr>
      </p:sp>
      <p:sp>
        <p:nvSpPr>
          <p:cNvPr id="20" name="Text 18"/>
          <p:cNvSpPr/>
          <p:nvPr/>
        </p:nvSpPr>
        <p:spPr>
          <a:xfrm>
            <a:off x="6629400" y="2286000"/>
            <a:ext cx="4572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bun install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bun dev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8F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▲ Next.js 16 (Turbopack)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Local: http://localhost:3000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8F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Ready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5577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자주 쓰는 스크립트: bun run build · bun run lint · bun run test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1097280"/>
            <a:ext cx="3108960" cy="310896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367528" y="868680"/>
            <a:ext cx="1280160" cy="12801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74766" y="1175918"/>
            <a:ext cx="665683" cy="66568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4231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함께 만들어가는 Todo Tutorial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822960" y="32461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Playbook 강의와 함께 완성해 가는 실습 프로젝트입니다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355848" y="4160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Contributor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824728" y="4160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토이크레인 · Frontend Developer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355848" y="45994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강의 본문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824728" y="45994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docs.claude-hunt.com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355848" y="503834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수강생 결과물 공유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824728" y="503834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claude-hunt.com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2026-08-19T00:55:06Z</dcterms:created>
  <dcterms:modified xsi:type="dcterms:W3CDTF">2026-08-19T00:55:06Z</dcterms:modified>
</cp:coreProperties>
</file>